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League Spartan" panose="020B0604020202020204" charset="0"/>
      <p:regular r:id="rId16"/>
    </p:embeddedFont>
    <p:embeddedFont>
      <p:font typeface="Open Sans" panose="020B0606030504020204" pitchFamily="34" charset="0"/>
      <p:regular r:id="rId17"/>
    </p:embeddedFont>
    <p:embeddedFont>
      <p:font typeface="Open Sans Bold" panose="020B0806030504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shd6284-byte" TargetMode="External"/><Relationship Id="rId2" Type="http://schemas.openxmlformats.org/officeDocument/2006/relationships/hyperlink" Target="https://github.com/shorey82838-del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akash2519bbafai25-glitch" TargetMode="External"/><Relationship Id="rId4" Type="http://schemas.openxmlformats.org/officeDocument/2006/relationships/hyperlink" Target="https://github.com/charupathania8-de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A2230CB-A33B-250D-1C9F-02C691F4BC47}"/>
              </a:ext>
            </a:extLst>
          </p:cNvPr>
          <p:cNvGrpSpPr/>
          <p:nvPr/>
        </p:nvGrpSpPr>
        <p:grpSpPr>
          <a:xfrm>
            <a:off x="3569780" y="8420100"/>
            <a:ext cx="10515600" cy="1330111"/>
            <a:chOff x="914400" y="7073320"/>
            <a:chExt cx="10515600" cy="1330111"/>
          </a:xfrm>
        </p:grpSpPr>
        <p:sp>
          <p:nvSpPr>
            <p:cNvPr id="12" name="TextBox 12"/>
            <p:cNvSpPr txBox="1"/>
            <p:nvPr/>
          </p:nvSpPr>
          <p:spPr>
            <a:xfrm>
              <a:off x="914400" y="7073320"/>
              <a:ext cx="10515600" cy="6705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1" spc="234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Chitkara University CBS BBA in FinTech and Artificial Intelligence</a:t>
              </a:r>
            </a:p>
            <a:p>
              <a:pPr algn="ctr">
                <a:lnSpc>
                  <a:spcPts val="2729"/>
                </a:lnSpc>
              </a:pPr>
              <a:r>
                <a:rPr lang="en-US" sz="1950" b="1" spc="234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Group 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4400" y="7781925"/>
              <a:ext cx="10001250" cy="621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z="1875" dirty="0">
                  <a:solidFill>
                    <a:srgbClr val="C0CEDC"/>
                  </a:solidFill>
                  <a:latin typeface="Open Sans"/>
                  <a:ea typeface="Open Sans"/>
                  <a:cs typeface="Open Sans"/>
                  <a:sym typeface="Open Sans"/>
                </a:rPr>
                <a:t>Abhishek Shorey  •  Danish  •  Chirag Pathania</a:t>
              </a:r>
            </a:p>
            <a:p>
              <a:pPr algn="ctr">
                <a:lnSpc>
                  <a:spcPts val="2531"/>
                </a:lnSpc>
              </a:pPr>
              <a:r>
                <a:rPr lang="en-US" sz="1875" dirty="0">
                  <a:solidFill>
                    <a:srgbClr val="C0CEDC"/>
                  </a:solidFill>
                  <a:latin typeface="Open Sans"/>
                  <a:ea typeface="Open Sans"/>
                  <a:cs typeface="Open Sans"/>
                  <a:sym typeface="Open Sans"/>
                </a:rPr>
                <a:t>Akash Thakur  •  Harsh Kumar  •  Bhavya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278A987-0E30-DC54-803B-AEC6A2F28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90500"/>
            <a:ext cx="9882761" cy="769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FC3FA-5AC7-B876-9F62-A275DB9D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9323C7B-4522-A331-E00D-773FC4BAA55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A54475F-AA72-73D6-9BE0-2C4872F4310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74A67AE-784C-1462-6475-17DEFC0A9FE3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11F">
                <a:alpha val="6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FA6A6EE-7E63-E9CE-33AD-BB686EBD4B35}"/>
                </a:ext>
              </a:extLst>
            </p:cNvPr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E97E4B3-1792-BC3F-FDE7-8C909091E333}"/>
              </a:ext>
            </a:extLst>
          </p:cNvPr>
          <p:cNvGrpSpPr/>
          <p:nvPr/>
        </p:nvGrpSpPr>
        <p:grpSpPr>
          <a:xfrm>
            <a:off x="914400" y="1581150"/>
            <a:ext cx="1047750" cy="76200"/>
            <a:chOff x="0" y="0"/>
            <a:chExt cx="1397000" cy="101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AD24782-807C-A422-D15A-B63176CE8F6A}"/>
                </a:ext>
              </a:extLst>
            </p:cNvPr>
            <p:cNvSpPr/>
            <p:nvPr/>
          </p:nvSpPr>
          <p:spPr>
            <a:xfrm>
              <a:off x="0" y="0"/>
              <a:ext cx="1397000" cy="101600"/>
            </a:xfrm>
            <a:custGeom>
              <a:avLst/>
              <a:gdLst/>
              <a:ahLst/>
              <a:cxnLst/>
              <a:rect l="l" t="t" r="r" b="b"/>
              <a:pathLst>
                <a:path w="1397000" h="101600">
                  <a:moveTo>
                    <a:pt x="0" y="0"/>
                  </a:moveTo>
                  <a:lnTo>
                    <a:pt x="1397000" y="0"/>
                  </a:lnTo>
                  <a:lnTo>
                    <a:pt x="1397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6AC513-6A99-8153-F875-AA92D87CC613}"/>
                </a:ext>
              </a:extLst>
            </p:cNvPr>
            <p:cNvSpPr txBox="1"/>
            <p:nvPr/>
          </p:nvSpPr>
          <p:spPr>
            <a:xfrm>
              <a:off x="0" y="-38100"/>
              <a:ext cx="1397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8356928-BB28-310B-FD29-3C87E6775E49}"/>
              </a:ext>
            </a:extLst>
          </p:cNvPr>
          <p:cNvSpPr txBox="1"/>
          <p:nvPr/>
        </p:nvSpPr>
        <p:spPr>
          <a:xfrm>
            <a:off x="914400" y="962025"/>
            <a:ext cx="7620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AI/ML INTEGRATED CASE STUDY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61E3AA2-D4F3-E3EF-87D4-6359269297F1}"/>
              </a:ext>
            </a:extLst>
          </p:cNvPr>
          <p:cNvSpPr txBox="1"/>
          <p:nvPr/>
        </p:nvSpPr>
        <p:spPr>
          <a:xfrm>
            <a:off x="914400" y="2209800"/>
            <a:ext cx="12573000" cy="170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25"/>
              </a:lnSpc>
            </a:pPr>
            <a:r>
              <a:rPr lang="en-US" sz="6525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Predicting Player Churn</a:t>
            </a:r>
          </a:p>
          <a:p>
            <a:pPr algn="l">
              <a:lnSpc>
                <a:spcPts val="6525"/>
              </a:lnSpc>
            </a:pPr>
            <a:r>
              <a:rPr lang="en-US" sz="6525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 Personalizing Engagement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66DC544-B999-3DDF-5676-8FA81DE850B0}"/>
              </a:ext>
            </a:extLst>
          </p:cNvPr>
          <p:cNvSpPr txBox="1"/>
          <p:nvPr/>
        </p:nvSpPr>
        <p:spPr>
          <a:xfrm>
            <a:off x="914400" y="4448175"/>
            <a:ext cx="9906000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D6E0EA"/>
                </a:solidFill>
                <a:latin typeface="Open Sans"/>
                <a:ea typeface="Open Sans"/>
                <a:cs typeface="Open Sans"/>
                <a:sym typeface="Open Sans"/>
              </a:rPr>
              <a:t>Krafton Inc. — turning player signals into timely, responsible action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720552D-43A6-F5E8-46EB-02324314C17C}"/>
              </a:ext>
            </a:extLst>
          </p:cNvPr>
          <p:cNvSpPr txBox="1"/>
          <p:nvPr/>
        </p:nvSpPr>
        <p:spPr>
          <a:xfrm>
            <a:off x="914400" y="7073320"/>
            <a:ext cx="10515600" cy="67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spc="234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Chitkara University CBS BBA in FinTech and Artificial Intelligence  |  Group 3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172798F-F46A-B978-D887-217414343CAD}"/>
              </a:ext>
            </a:extLst>
          </p:cNvPr>
          <p:cNvSpPr txBox="1"/>
          <p:nvPr/>
        </p:nvSpPr>
        <p:spPr>
          <a:xfrm>
            <a:off x="914400" y="7781925"/>
            <a:ext cx="10001250" cy="62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C0CEDC"/>
                </a:solidFill>
                <a:latin typeface="Open Sans"/>
                <a:ea typeface="Open Sans"/>
                <a:cs typeface="Open Sans"/>
                <a:sym typeface="Open Sans"/>
              </a:rPr>
              <a:t>Abhishek Shorey  •  Danish  •  Chirag Pathania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C0CEDC"/>
                </a:solidFill>
                <a:latin typeface="Open Sans"/>
                <a:ea typeface="Open Sans"/>
                <a:cs typeface="Open Sans"/>
                <a:sym typeface="Open Sans"/>
              </a:rPr>
              <a:t>Akash Thakur  •  Harsh Kumar  •  Bhavya</a:t>
            </a:r>
          </a:p>
        </p:txBody>
      </p:sp>
    </p:spTree>
    <p:extLst>
      <p:ext uri="{BB962C8B-B14F-4D97-AF65-F5344CB8AC3E}">
        <p14:creationId xmlns:p14="http://schemas.microsoft.com/office/powerpoint/2010/main" val="338174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Krafton Inc. — built for live service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572750" y="2016000"/>
            <a:ext cx="6768000" cy="6572250"/>
          </a:xfrm>
          <a:prstGeom prst="ellipse">
            <a:avLst/>
          </a:prstGeom>
          <a:blipFill>
            <a:blip r:embed="rId2"/>
            <a:stretch>
              <a:fillRect l="-56914" r="-12234"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914400" y="2152650"/>
            <a:ext cx="8382000" cy="91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775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A South Korean publisher operating multiplayer worlds at global scale.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3762375"/>
            <a:ext cx="4286250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7650" b="1">
                <a:solidFill>
                  <a:srgbClr val="FF75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100M+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4591050"/>
            <a:ext cx="600075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17083"/>
                </a:solidFill>
                <a:latin typeface="Open Sans"/>
                <a:ea typeface="Open Sans"/>
                <a:cs typeface="Open Sans"/>
                <a:sym typeface="Open Sans"/>
              </a:rPr>
              <a:t>monthly active mobile + PC gamers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5753100"/>
            <a:ext cx="809625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550" b="1" dirty="0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PUBG: BATTLEGROUNDS  •  BGMI (India Only)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6448425"/>
            <a:ext cx="7810500" cy="73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 dirty="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Recurring revenue comes from Royale Passes, cosmetics and virtual currencies such as UC / G-Coin.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Player churn is a revenue warning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590800"/>
            <a:ext cx="9525000" cy="177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0"/>
              </a:lnSpc>
            </a:pPr>
            <a:r>
              <a:rPr lang="en-US" sz="13350" b="1" dirty="0">
                <a:solidFill>
                  <a:srgbClr val="32D6C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60–70%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5295" y="4241483"/>
            <a:ext cx="9105900" cy="684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 new free-to-play players may leave within 14 days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001250" y="2238375"/>
            <a:ext cx="28575" cy="6096000"/>
            <a:chOff x="0" y="0"/>
            <a:chExt cx="38100" cy="8128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" cy="8128000"/>
            </a:xfrm>
            <a:custGeom>
              <a:avLst/>
              <a:gdLst/>
              <a:ahLst/>
              <a:cxnLst/>
              <a:rect l="l" t="t" r="r" b="b"/>
              <a:pathLst>
                <a:path w="38100" h="8128000">
                  <a:moveTo>
                    <a:pt x="0" y="0"/>
                  </a:moveTo>
                  <a:lnTo>
                    <a:pt x="38100" y="0"/>
                  </a:lnTo>
                  <a:lnTo>
                    <a:pt x="38100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32D6C5">
                <a:alpha val="5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8100" cy="816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668000" y="2352675"/>
            <a:ext cx="6572250" cy="1101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D8E1EB"/>
                </a:solidFill>
                <a:latin typeface="Open Sans"/>
                <a:ea typeface="Open Sans"/>
                <a:cs typeface="Open Sans"/>
                <a:sym typeface="Open Sans"/>
              </a:rPr>
              <a:t>Churn = a player stops playing for a defined period. The danger is concentrated: the top 5–10% of players can generate ~80% of income.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8000" y="5038725"/>
            <a:ext cx="3429000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 b="1">
                <a:solidFill>
                  <a:srgbClr val="FF75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4–6×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68000" y="5772150"/>
            <a:ext cx="619125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more expensive to acquire a new player than retain 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68000" y="7200900"/>
            <a:ext cx="619125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B7C5D4"/>
                </a:solidFill>
                <a:latin typeface="Open Sans"/>
                <a:ea typeface="Open Sans"/>
                <a:cs typeface="Open Sans"/>
                <a:sym typeface="Open Sans"/>
              </a:rPr>
              <a:t>Mid-tier payers often leave after frustration, content fatigue or unrewarding loops.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8FA1B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Three data lenses tell one player story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2095500"/>
            <a:ext cx="5143500" cy="6191250"/>
            <a:chOff x="0" y="0"/>
            <a:chExt cx="6858000" cy="8255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858000" cy="8255000"/>
              <a:chOff x="0" y="0"/>
              <a:chExt cx="6858000" cy="8255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858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8255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6858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82600" y="479425"/>
              <a:ext cx="6096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 spc="207">
                  <a:solidFill>
                    <a:srgbClr val="32D6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  TELEMETRY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2600" y="1562100"/>
              <a:ext cx="609600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22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Sessions • match completion • survival time • K/D • streaks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482600" y="5080000"/>
              <a:ext cx="1270000" cy="63500"/>
              <a:chOff x="0" y="0"/>
              <a:chExt cx="1270000" cy="63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70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63500">
                    <a:moveTo>
                      <a:pt x="0" y="0"/>
                    </a:moveTo>
                    <a:lnTo>
                      <a:pt x="1270000" y="0"/>
                    </a:lnTo>
                    <a:lnTo>
                      <a:pt x="127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32D6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70000" cy="10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82600" y="5559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Shows skill, friction and changing play habits.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96050" y="2095500"/>
            <a:ext cx="5143500" cy="6191250"/>
            <a:chOff x="0" y="0"/>
            <a:chExt cx="6858000" cy="8255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858000" cy="8255000"/>
              <a:chOff x="0" y="0"/>
              <a:chExt cx="6858000" cy="8255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858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8255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6858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82600" y="479425"/>
              <a:ext cx="6096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 spc="207">
                  <a:solidFill>
                    <a:srgbClr val="FF754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  ECONOMY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2600" y="1562100"/>
              <a:ext cx="6096000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22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LTV • transaction frequency • currency balance • price sensitivity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482600" y="5080000"/>
              <a:ext cx="1270000" cy="63500"/>
              <a:chOff x="0" y="0"/>
              <a:chExt cx="1270000" cy="63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270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63500">
                    <a:moveTo>
                      <a:pt x="0" y="0"/>
                    </a:moveTo>
                    <a:lnTo>
                      <a:pt x="1270000" y="0"/>
                    </a:lnTo>
                    <a:lnTo>
                      <a:pt x="127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270000" cy="10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82600" y="5559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Reveals value, affordability and purchase intent.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077700" y="2095500"/>
            <a:ext cx="5143500" cy="6191250"/>
            <a:chOff x="0" y="0"/>
            <a:chExt cx="6858000" cy="8255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858000" cy="8255000"/>
              <a:chOff x="0" y="0"/>
              <a:chExt cx="6858000" cy="8255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858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8255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6858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82600" y="479425"/>
              <a:ext cx="6096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 spc="207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  ENGAGEMENT + SOCIAL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2600" y="1562100"/>
              <a:ext cx="609600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22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Royale Pass progress • last active • friends • toxicity flags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482600" y="5080000"/>
              <a:ext cx="1270000" cy="63500"/>
              <a:chOff x="0" y="0"/>
              <a:chExt cx="1270000" cy="63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70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63500">
                    <a:moveTo>
                      <a:pt x="0" y="0"/>
                    </a:moveTo>
                    <a:lnTo>
                      <a:pt x="1270000" y="0"/>
                    </a:lnTo>
                    <a:lnTo>
                      <a:pt x="127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13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270000" cy="10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482600" y="5559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Signals belonging, momentum and experience quality.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 first. Personalize second.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500" y="2952750"/>
            <a:ext cx="4095750" cy="1809750"/>
            <a:chOff x="0" y="0"/>
            <a:chExt cx="5461000" cy="241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61000" cy="2413000"/>
            </a:xfrm>
            <a:custGeom>
              <a:avLst/>
              <a:gdLst/>
              <a:ahLst/>
              <a:cxnLst/>
              <a:rect l="l" t="t" r="r" b="b"/>
              <a:pathLst>
                <a:path w="5461000" h="24130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2377558"/>
                  </a:lnTo>
                  <a:cubicBezTo>
                    <a:pt x="5461000" y="2386958"/>
                    <a:pt x="5457266" y="2395973"/>
                    <a:pt x="5450619" y="2402619"/>
                  </a:cubicBezTo>
                  <a:cubicBezTo>
                    <a:pt x="5443973" y="2409266"/>
                    <a:pt x="5434958" y="2413000"/>
                    <a:pt x="5425558" y="2413000"/>
                  </a:cubicBezTo>
                  <a:lnTo>
                    <a:pt x="35442" y="2413000"/>
                  </a:lnTo>
                  <a:cubicBezTo>
                    <a:pt x="26042" y="2413000"/>
                    <a:pt x="17027" y="2409266"/>
                    <a:pt x="10381" y="2402619"/>
                  </a:cubicBezTo>
                  <a:cubicBezTo>
                    <a:pt x="3734" y="2395973"/>
                    <a:pt x="0" y="2386958"/>
                    <a:pt x="0" y="23775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461000" cy="2460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PLAYER SIGNALS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5238750" y="3857625"/>
            <a:ext cx="1428750" cy="0"/>
          </a:xfrm>
          <a:prstGeom prst="line">
            <a:avLst/>
          </a:prstGeom>
          <a:ln w="47625" cap="flat">
            <a:solidFill>
              <a:srgbClr val="FF754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6858000" y="2667000"/>
            <a:ext cx="4572000" cy="2381250"/>
            <a:chOff x="0" y="0"/>
            <a:chExt cx="6096000" cy="3175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96000" cy="3175000"/>
            </a:xfrm>
            <a:custGeom>
              <a:avLst/>
              <a:gdLst/>
              <a:ahLst/>
              <a:cxnLst/>
              <a:rect l="l" t="t" r="r" b="b"/>
              <a:pathLst>
                <a:path w="6096000" h="3175000">
                  <a:moveTo>
                    <a:pt x="31750" y="0"/>
                  </a:moveTo>
                  <a:lnTo>
                    <a:pt x="6064250" y="0"/>
                  </a:lnTo>
                  <a:cubicBezTo>
                    <a:pt x="6081785" y="0"/>
                    <a:pt x="6096000" y="14215"/>
                    <a:pt x="6096000" y="31750"/>
                  </a:cubicBezTo>
                  <a:lnTo>
                    <a:pt x="6096000" y="3143250"/>
                  </a:lnTo>
                  <a:cubicBezTo>
                    <a:pt x="6096000" y="3160785"/>
                    <a:pt x="6081785" y="3175000"/>
                    <a:pt x="6064250" y="3175000"/>
                  </a:cubicBezTo>
                  <a:lnTo>
                    <a:pt x="31750" y="3175000"/>
                  </a:lnTo>
                  <a:cubicBezTo>
                    <a:pt x="14215" y="3175000"/>
                    <a:pt x="0" y="3160785"/>
                    <a:pt x="0" y="3143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132238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096000" cy="322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RANDOM FOREST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7-DAY CHURN RISK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11620500" y="3857625"/>
            <a:ext cx="1428750" cy="0"/>
          </a:xfrm>
          <a:prstGeom prst="line">
            <a:avLst/>
          </a:prstGeom>
          <a:ln w="47625" cap="flat">
            <a:solidFill>
              <a:srgbClr val="FF754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3239750" y="2952750"/>
            <a:ext cx="4095750" cy="1809750"/>
            <a:chOff x="0" y="0"/>
            <a:chExt cx="5461000" cy="2413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61000" cy="2413000"/>
            </a:xfrm>
            <a:custGeom>
              <a:avLst/>
              <a:gdLst/>
              <a:ahLst/>
              <a:cxnLst/>
              <a:rect l="l" t="t" r="r" b="b"/>
              <a:pathLst>
                <a:path w="5461000" h="24130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2377558"/>
                  </a:lnTo>
                  <a:cubicBezTo>
                    <a:pt x="5461000" y="2386958"/>
                    <a:pt x="5457266" y="2395973"/>
                    <a:pt x="5450619" y="2402619"/>
                  </a:cubicBezTo>
                  <a:cubicBezTo>
                    <a:pt x="5443973" y="2409266"/>
                    <a:pt x="5434958" y="2413000"/>
                    <a:pt x="5425558" y="2413000"/>
                  </a:cubicBezTo>
                  <a:lnTo>
                    <a:pt x="35442" y="2413000"/>
                  </a:lnTo>
                  <a:cubicBezTo>
                    <a:pt x="26042" y="2413000"/>
                    <a:pt x="17027" y="2409266"/>
                    <a:pt x="10381" y="2402619"/>
                  </a:cubicBezTo>
                  <a:cubicBezTo>
                    <a:pt x="3734" y="2395973"/>
                    <a:pt x="0" y="2386958"/>
                    <a:pt x="0" y="23775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5461000" cy="2460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PERSONALIZED OFFER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858000" y="5362575"/>
            <a:ext cx="457200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617083"/>
                </a:solidFill>
                <a:latin typeface="Open Sans"/>
                <a:ea typeface="Open Sans"/>
                <a:cs typeface="Open Sans"/>
                <a:sym typeface="Open Sans"/>
              </a:rPr>
              <a:t>~80% accuracy identifying high-risk players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00250" y="6781800"/>
            <a:ext cx="14287500" cy="35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LightFM / matrix factorization ranks the most relevant store or quest offer.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57500" y="7696200"/>
            <a:ext cx="125730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FF75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Example: high risk + low sessions → beginner quest reward, not an aggressive discount.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Retention becomes a daily business process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500" y="3333750"/>
            <a:ext cx="3333750" cy="2190750"/>
            <a:chOff x="0" y="0"/>
            <a:chExt cx="4445000" cy="292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2921000"/>
            </a:xfrm>
            <a:custGeom>
              <a:avLst/>
              <a:gdLst/>
              <a:ahLst/>
              <a:cxnLst/>
              <a:rect l="l" t="t" r="r" b="b"/>
              <a:pathLst>
                <a:path w="4445000" h="2921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870200"/>
                  </a:lnTo>
                  <a:cubicBezTo>
                    <a:pt x="4445000" y="2898256"/>
                    <a:pt x="4422256" y="2921000"/>
                    <a:pt x="4394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445000" cy="296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COLLECT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Gameplay + store events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4476750" y="4429125"/>
            <a:ext cx="619125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5286375" y="3333750"/>
            <a:ext cx="3333750" cy="2190750"/>
            <a:chOff x="0" y="0"/>
            <a:chExt cx="4445000" cy="2921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2921000"/>
            </a:xfrm>
            <a:custGeom>
              <a:avLst/>
              <a:gdLst/>
              <a:ahLst/>
              <a:cxnLst/>
              <a:rect l="l" t="t" r="r" b="b"/>
              <a:pathLst>
                <a:path w="4445000" h="2921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870200"/>
                  </a:lnTo>
                  <a:cubicBezTo>
                    <a:pt x="4445000" y="2898256"/>
                    <a:pt x="4422256" y="2921000"/>
                    <a:pt x="4394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445000" cy="296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SCORE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Risk from 0.00–1.00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8810625" y="4429125"/>
            <a:ext cx="619125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9620250" y="3333750"/>
            <a:ext cx="3333750" cy="2190750"/>
            <a:chOff x="0" y="0"/>
            <a:chExt cx="4445000" cy="2921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45000" cy="2921000"/>
            </a:xfrm>
            <a:custGeom>
              <a:avLst/>
              <a:gdLst/>
              <a:ahLst/>
              <a:cxnLst/>
              <a:rect l="l" t="t" r="r" b="b"/>
              <a:pathLst>
                <a:path w="4445000" h="2921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870200"/>
                  </a:lnTo>
                  <a:cubicBezTo>
                    <a:pt x="4445000" y="2898256"/>
                    <a:pt x="4422256" y="2921000"/>
                    <a:pt x="4394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445000" cy="296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FLAG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High risk if &gt; 0.75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3144500" y="4429125"/>
            <a:ext cx="619125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13954125" y="3333750"/>
            <a:ext cx="3333750" cy="2190750"/>
            <a:chOff x="0" y="0"/>
            <a:chExt cx="4445000" cy="2921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45000" cy="2921000"/>
            </a:xfrm>
            <a:custGeom>
              <a:avLst/>
              <a:gdLst/>
              <a:ahLst/>
              <a:cxnLst/>
              <a:rect l="l" t="t" r="r" b="b"/>
              <a:pathLst>
                <a:path w="4445000" h="2921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870200"/>
                  </a:lnTo>
                  <a:cubicBezTo>
                    <a:pt x="4445000" y="2898256"/>
                    <a:pt x="4422256" y="2921000"/>
                    <a:pt x="4394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445000" cy="296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ACT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Quest, XP or discount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810000" y="6924675"/>
            <a:ext cx="10668000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5"/>
              </a:lnSpc>
            </a:pPr>
            <a:r>
              <a:rPr lang="en-US" sz="3525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action • right player • right moment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95750" y="7696200"/>
            <a:ext cx="1009650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AFBDCC"/>
                </a:solidFill>
                <a:latin typeface="Open Sans"/>
                <a:ea typeface="Open Sans"/>
                <a:cs typeface="Open Sans"/>
                <a:sym typeface="Open Sans"/>
              </a:rPr>
              <a:t>Automation scales retention; managers still define thresholds, budgets and ethical guardrails.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8FA1B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Projected impact — not guaranteed outcomes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724150"/>
            <a:ext cx="4953000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1">
                <a:solidFill>
                  <a:srgbClr val="32D6C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638550"/>
            <a:ext cx="5143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less early churn through proactive retention quests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5772150"/>
            <a:ext cx="4953000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1">
                <a:solidFill>
                  <a:srgbClr val="FF75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18%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6686550"/>
            <a:ext cx="5143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higher IAP conversion through personalized storefronts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273" y="1262818"/>
            <a:ext cx="12023953" cy="8142363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9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Responsible Model protects players and trust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00125" y="2190750"/>
            <a:ext cx="5905500" cy="6572250"/>
          </a:xfrm>
          <a:prstGeom prst="ellipse">
            <a:avLst/>
          </a:prstGeom>
          <a:blipFill>
            <a:blip r:embed="rId2"/>
            <a:stretch>
              <a:fillRect t="-17433" b="-17433"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7334250" y="2359819"/>
            <a:ext cx="9048750" cy="945356"/>
            <a:chOff x="0" y="-28575"/>
            <a:chExt cx="12065000" cy="126047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25400"/>
              <a:ext cx="152400" cy="1206500"/>
              <a:chOff x="0" y="0"/>
              <a:chExt cx="152400" cy="1206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524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06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32D6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52400" cy="124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635000" y="-28575"/>
              <a:ext cx="11430000" cy="963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32D6C5"/>
                  </a:solidFill>
                  <a:latin typeface="Open Sans"/>
                  <a:ea typeface="Open Sans"/>
                  <a:cs typeface="Open Sans"/>
                  <a:sym typeface="Open Sans"/>
                </a:rPr>
                <a:t>PRIVACY  •  All the Government Privacy Regulations require special care with minors and device data.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34250" y="3952875"/>
            <a:ext cx="9048750" cy="923925"/>
            <a:chOff x="0" y="0"/>
            <a:chExt cx="12065000" cy="12319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25400"/>
              <a:ext cx="152400" cy="1206500"/>
              <a:chOff x="0" y="0"/>
              <a:chExt cx="152400" cy="1206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524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06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52400" cy="124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635000" y="-28575"/>
              <a:ext cx="11430000" cy="963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FAIRNESS  •  Never manipulate matchmaking to pressure spending.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334250" y="5524500"/>
            <a:ext cx="9048750" cy="923925"/>
            <a:chOff x="0" y="0"/>
            <a:chExt cx="12065000" cy="12319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25400"/>
              <a:ext cx="152400" cy="1206500"/>
              <a:chOff x="0" y="0"/>
              <a:chExt cx="152400" cy="1206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24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06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52400" cy="124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35000" y="-28575"/>
              <a:ext cx="11430000" cy="963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MONETIZATION  •  Avoid aggressive loot-box targeting of vulnerable players.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34250" y="7096125"/>
            <a:ext cx="9048750" cy="923925"/>
            <a:chOff x="0" y="0"/>
            <a:chExt cx="12065000" cy="12319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25400"/>
              <a:ext cx="152400" cy="1206500"/>
              <a:chOff x="0" y="0"/>
              <a:chExt cx="152400" cy="12065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524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06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52400" cy="124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635000" y="-28575"/>
              <a:ext cx="11430000" cy="963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 DRIFT  •  Updates change behavior; accuracy must be monitored.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8FA1B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71550"/>
            <a:ext cx="13811250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3975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tools helped translate — not replace — judgment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3000" y="2476500"/>
            <a:ext cx="4953000" cy="4476750"/>
            <a:chOff x="0" y="0"/>
            <a:chExt cx="6604000" cy="5969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604000" cy="5969000"/>
              <a:chOff x="0" y="0"/>
              <a:chExt cx="6604000" cy="5969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604000" cy="5969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5969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969000"/>
                    </a:lnTo>
                    <a:lnTo>
                      <a:pt x="0" y="596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6604000" cy="600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32D6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508000" y="736600"/>
              <a:ext cx="5461000" cy="48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5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ChatGPT + Gemini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8000" y="1812925"/>
              <a:ext cx="5461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Structured the case and translated model logic into business language.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72250" y="2476500"/>
            <a:ext cx="4953000" cy="4476750"/>
            <a:chOff x="0" y="0"/>
            <a:chExt cx="6604000" cy="5969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604000" cy="5969000"/>
              <a:chOff x="0" y="0"/>
              <a:chExt cx="6604000" cy="5969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604000" cy="5969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5969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969000"/>
                    </a:lnTo>
                    <a:lnTo>
                      <a:pt x="0" y="596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604000" cy="600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508000" y="736600"/>
              <a:ext cx="5461000" cy="48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5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Perplexity AI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8000" y="1812925"/>
              <a:ext cx="5461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Supported fact-checking on gaming churn and monetization.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001500" y="2476500"/>
            <a:ext cx="4953000" cy="4476750"/>
            <a:chOff x="0" y="0"/>
            <a:chExt cx="6604000" cy="5969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6604000" cy="5969000"/>
              <a:chOff x="0" y="0"/>
              <a:chExt cx="6604000" cy="5969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604000" cy="5969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5969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969000"/>
                    </a:lnTo>
                    <a:lnTo>
                      <a:pt x="0" y="596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6604000" cy="600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32D6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508000" y="736600"/>
              <a:ext cx="5461000" cy="48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5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Core research prompt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8000" y="1812925"/>
              <a:ext cx="5461000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Asked for live-service churn prediction, industry examples, reliable sources and ethical risks.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381250" y="7715250"/>
            <a:ext cx="135255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850" b="1">
                <a:solidFill>
                  <a:srgbClr val="FF75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Better prompts add role + context + constraints + evidence + ethics.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71550"/>
            <a:ext cx="13811250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3975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refinement changed the quality of insight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500" y="2143125"/>
            <a:ext cx="7620000" cy="6191250"/>
            <a:chOff x="0" y="0"/>
            <a:chExt cx="10160000" cy="825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0000" cy="8255000"/>
            </a:xfrm>
            <a:custGeom>
              <a:avLst/>
              <a:gdLst/>
              <a:ahLst/>
              <a:cxnLst/>
              <a:rect l="l" t="t" r="r" b="b"/>
              <a:pathLst>
                <a:path w="10160000" h="8255000">
                  <a:moveTo>
                    <a:pt x="0" y="0"/>
                  </a:moveTo>
                  <a:lnTo>
                    <a:pt x="10160000" y="0"/>
                  </a:lnTo>
                  <a:lnTo>
                    <a:pt x="1016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160000" cy="829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15500" y="2143125"/>
            <a:ext cx="7620000" cy="6191250"/>
            <a:chOff x="0" y="0"/>
            <a:chExt cx="10160000" cy="825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00" cy="8255000"/>
            </a:xfrm>
            <a:custGeom>
              <a:avLst/>
              <a:gdLst/>
              <a:ahLst/>
              <a:cxnLst/>
              <a:rect l="l" t="t" r="r" b="b"/>
              <a:pathLst>
                <a:path w="10160000" h="8255000">
                  <a:moveTo>
                    <a:pt x="0" y="0"/>
                  </a:moveTo>
                  <a:lnTo>
                    <a:pt x="10160000" y="0"/>
                  </a:lnTo>
                  <a:lnTo>
                    <a:pt x="1016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E8F7F4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160000" cy="829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8750" y="2533650"/>
            <a:ext cx="6667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25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BEFORE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8750" y="3333750"/>
            <a:ext cx="66675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8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“How can AI reduce player churn?”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8750" y="5305425"/>
            <a:ext cx="6667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17083"/>
                </a:solidFill>
                <a:latin typeface="Open Sans"/>
                <a:ea typeface="Open Sans"/>
                <a:cs typeface="Open Sans"/>
                <a:sym typeface="Open Sans"/>
              </a:rPr>
              <a:t>Generic • broad • unverified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17083"/>
                </a:solidFill>
                <a:latin typeface="Open Sans"/>
                <a:ea typeface="Open Sans"/>
                <a:cs typeface="Open Sans"/>
                <a:sym typeface="Open Sans"/>
              </a:rPr>
              <a:t>Weak link to management 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91750" y="2533650"/>
            <a:ext cx="6667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252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AFTER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91750" y="3333750"/>
            <a:ext cx="6667500" cy="173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“Act as a gaming data scientist. Compare XGBoost and recommendation systems; cite reliable sources; address minors, fairness and drift.”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91750" y="6162675"/>
            <a:ext cx="6667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754C"/>
                </a:solidFill>
                <a:latin typeface="Open Sans"/>
                <a:ea typeface="Open Sans"/>
                <a:cs typeface="Open Sans"/>
                <a:sym typeface="Open Sans"/>
              </a:rPr>
              <a:t>Focused • actionable • source-aware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754C"/>
                </a:solidFill>
                <a:latin typeface="Open Sans"/>
                <a:ea typeface="Open Sans"/>
                <a:cs typeface="Open Sans"/>
                <a:sym typeface="Open Sans"/>
              </a:rPr>
              <a:t>Ethically cautious for decisions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9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Four management decisions make Model useful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500" y="2286000"/>
            <a:ext cx="7810500" cy="2667000"/>
            <a:chOff x="0" y="0"/>
            <a:chExt cx="10414000" cy="3556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414000" cy="3556000"/>
              <a:chOff x="0" y="0"/>
              <a:chExt cx="10414000" cy="3556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41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3556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425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041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08000" y="46037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 spc="305">
                  <a:solidFill>
                    <a:srgbClr val="32D6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EXPLAIN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000" y="1431925"/>
              <a:ext cx="9144000" cy="467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Understand why AI has selected a player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29750" y="2286000"/>
            <a:ext cx="7810500" cy="2667000"/>
            <a:chOff x="0" y="0"/>
            <a:chExt cx="10414000" cy="3556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414000" cy="3556000"/>
              <a:chOff x="0" y="0"/>
              <a:chExt cx="10414000" cy="3556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41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3556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425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41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08000" y="46037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 spc="305">
                  <a:solidFill>
                    <a:srgbClr val="FF754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PROTECT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000" y="1431925"/>
              <a:ext cx="9144000" cy="467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Set spending limits, especially for minors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2500" y="5524500"/>
            <a:ext cx="7810500" cy="2667000"/>
            <a:chOff x="0" y="0"/>
            <a:chExt cx="10414000" cy="3556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0414000" cy="3556000"/>
              <a:chOff x="0" y="0"/>
              <a:chExt cx="10414000" cy="3556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041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3556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425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041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508000" y="46037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 spc="305">
                  <a:solidFill>
                    <a:srgbClr val="32D6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RETRAIN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8000" y="1431925"/>
              <a:ext cx="9144000" cy="467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Update the AI model when player behavior changes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29750" y="5524500"/>
            <a:ext cx="7810500" cy="2667000"/>
            <a:chOff x="0" y="0"/>
            <a:chExt cx="10414000" cy="3556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0414000" cy="3556000"/>
              <a:chOff x="0" y="0"/>
              <a:chExt cx="10414000" cy="3556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041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3556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425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041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508000" y="46037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 spc="305">
                  <a:solidFill>
                    <a:srgbClr val="32D6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CONNECT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8000" y="1431925"/>
              <a:ext cx="9144000" cy="467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Use AI for business growth ,but in a responsible way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8FA1B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the team learned — and built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619375"/>
            <a:ext cx="12039600" cy="1684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2625"/>
              </a:lnSpc>
              <a:buAutoNum type="arabicPlain"/>
            </a:pPr>
            <a:r>
              <a:rPr lang="en-US" sz="2625" b="1" dirty="0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predictions should be converted into useful actions</a:t>
            </a:r>
          </a:p>
          <a:p>
            <a:pPr algn="l">
              <a:lnSpc>
                <a:spcPts val="2625"/>
              </a:lnSpc>
            </a:pPr>
            <a:endParaRPr lang="en-US" sz="2625" b="1" dirty="0">
              <a:solidFill>
                <a:srgbClr val="132238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14350" indent="-514350" algn="l">
              <a:lnSpc>
                <a:spcPts val="2625"/>
              </a:lnSpc>
              <a:buAutoNum type="arabicPlain" startAt="2"/>
            </a:pPr>
            <a:r>
              <a:rPr lang="en-US" sz="2625" b="1" dirty="0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should be used responsibly, not only for money making</a:t>
            </a:r>
          </a:p>
          <a:p>
            <a:pPr algn="l">
              <a:lnSpc>
                <a:spcPts val="2625"/>
              </a:lnSpc>
            </a:pPr>
            <a:endParaRPr lang="en-US" sz="2625" b="1" dirty="0">
              <a:solidFill>
                <a:srgbClr val="132238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2625"/>
              </a:lnSpc>
            </a:pPr>
            <a:r>
              <a:rPr lang="en-US" sz="2625" b="1" dirty="0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  Good and clear prompts give better research results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D33AD-0290-9126-00C7-7F125BD1B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AE4647B-9009-6831-CF59-EA83EF79D8D4}"/>
              </a:ext>
            </a:extLst>
          </p:cNvPr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39D915B-9A55-E5E3-8053-E4C9C8D1FA6A}"/>
              </a:ext>
            </a:extLst>
          </p:cNvPr>
          <p:cNvSpPr txBox="1"/>
          <p:nvPr/>
        </p:nvSpPr>
        <p:spPr>
          <a:xfrm>
            <a:off x="914400" y="981075"/>
            <a:ext cx="16459200" cy="590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4350" b="1" dirty="0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5F3F210-B5A5-15AC-E3A1-6CA0A47A760B}"/>
              </a:ext>
            </a:extLst>
          </p:cNvPr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31EA771-A2F1-D42D-BC56-B8E8F272FF29}"/>
                </a:ext>
              </a:extLst>
            </p:cNvPr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1B63BF2-F7FB-5B16-81D8-B90E8B0BC015}"/>
                </a:ext>
              </a:extLst>
            </p:cNvPr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50ACD56-6BCB-DCAF-F56D-1B745F377307}"/>
              </a:ext>
            </a:extLst>
          </p:cNvPr>
          <p:cNvGrpSpPr/>
          <p:nvPr/>
        </p:nvGrpSpPr>
        <p:grpSpPr>
          <a:xfrm>
            <a:off x="914400" y="2143125"/>
            <a:ext cx="16421100" cy="5905500"/>
            <a:chOff x="0" y="0"/>
            <a:chExt cx="9271000" cy="7874000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5D5FA63-A85F-504C-4B39-14CF02C707FC}"/>
                </a:ext>
              </a:extLst>
            </p:cNvPr>
            <p:cNvGrpSpPr/>
            <p:nvPr/>
          </p:nvGrpSpPr>
          <p:grpSpPr>
            <a:xfrm>
              <a:off x="0" y="0"/>
              <a:ext cx="9271000" cy="7874000"/>
              <a:chOff x="0" y="0"/>
              <a:chExt cx="9271000" cy="78740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6D7B464-1628-D86F-96EE-8C0279ABEDAE}"/>
                  </a:ext>
                </a:extLst>
              </p:cNvPr>
              <p:cNvSpPr/>
              <p:nvPr/>
            </p:nvSpPr>
            <p:spPr>
              <a:xfrm>
                <a:off x="0" y="0"/>
                <a:ext cx="92710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9271000" h="7874000">
                    <a:moveTo>
                      <a:pt x="0" y="0"/>
                    </a:moveTo>
                    <a:lnTo>
                      <a:pt x="9271000" y="0"/>
                    </a:lnTo>
                    <a:lnTo>
                      <a:pt x="9271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2E96358-DD49-7CF1-E142-FCF4C4B96E0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710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E760A7E-BAFE-9F6B-0E62-93DC2AE02526}"/>
                </a:ext>
              </a:extLst>
            </p:cNvPr>
            <p:cNvGrpSpPr/>
            <p:nvPr/>
          </p:nvGrpSpPr>
          <p:grpSpPr>
            <a:xfrm>
              <a:off x="0" y="0"/>
              <a:ext cx="177800" cy="7874000"/>
              <a:chOff x="0" y="0"/>
              <a:chExt cx="177800" cy="78740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4CB01B8-B8D1-94B6-B7AF-129F126D6542}"/>
                  </a:ext>
                </a:extLst>
              </p:cNvPr>
              <p:cNvSpPr/>
              <p:nvPr/>
            </p:nvSpPr>
            <p:spPr>
              <a:xfrm>
                <a:off x="0" y="0"/>
                <a:ext cx="1778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78740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22F1603-69CF-2348-A08D-2AC5E689A6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78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10B0EC-DC89-D8BA-3EC4-3DA62E63A650}"/>
                </a:ext>
              </a:extLst>
            </p:cNvPr>
            <p:cNvSpPr txBox="1"/>
            <p:nvPr/>
          </p:nvSpPr>
          <p:spPr>
            <a:xfrm>
              <a:off x="762000" y="523875"/>
              <a:ext cx="7239000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 spc="234" dirty="0">
                  <a:solidFill>
                    <a:srgbClr val="FF754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Team Members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48F2FF27-FE91-8F55-4761-18CE7E5DA5CE}"/>
                </a:ext>
              </a:extLst>
            </p:cNvPr>
            <p:cNvSpPr txBox="1"/>
            <p:nvPr/>
          </p:nvSpPr>
          <p:spPr>
            <a:xfrm>
              <a:off x="975395" y="1675616"/>
              <a:ext cx="7874000" cy="30487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  <a:hlinkClick r:id="rId2"/>
                </a:rPr>
                <a:t>Abhishek Shorey </a:t>
              </a: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(2520992510)  </a:t>
              </a:r>
            </a:p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  <a:hlinkClick r:id="rId3"/>
                </a:rPr>
                <a:t>Danish</a:t>
              </a: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 (2520992578)</a:t>
              </a:r>
            </a:p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  <a:hlinkClick r:id="rId4"/>
                </a:rPr>
                <a:t>Chirag Pathania  </a:t>
              </a: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(2520992571)</a:t>
              </a:r>
            </a:p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  <a:hlinkClick r:id="rId5"/>
                </a:rPr>
                <a:t>Akash Thakur</a:t>
              </a: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(2520992519)</a:t>
              </a:r>
            </a:p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Harsh Kumar  (2520992612)</a:t>
              </a:r>
            </a:p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Bhavya (2520992563)</a:t>
              </a: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12D3768A-6A06-D16A-DCB6-53386ED86084}"/>
              </a:ext>
            </a:extLst>
          </p:cNvPr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94A846E-B99A-968C-6A87-FE09607A31AE}"/>
              </a:ext>
            </a:extLst>
          </p:cNvPr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57004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782</Words>
  <Application>Microsoft Office PowerPoint</Application>
  <PresentationFormat>Custom</PresentationFormat>
  <Paragraphs>139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Open Sans Bold</vt:lpstr>
      <vt:lpstr>Arial</vt:lpstr>
      <vt:lpstr>Calibri</vt:lpstr>
      <vt:lpstr>Open Sans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akash thakur</cp:lastModifiedBy>
  <cp:revision>11</cp:revision>
  <dcterms:created xsi:type="dcterms:W3CDTF">2006-08-16T00:00:00Z</dcterms:created>
  <dcterms:modified xsi:type="dcterms:W3CDTF">2026-09-18T04:33:03Z</dcterms:modified>
  <dc:identifier>DAHVRjq0gb0</dc:identifier>
</cp:coreProperties>
</file>